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_rels/theme2.xml.rels" ContentType="application/vnd.openxmlformats-package.relationship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media/image9.png" ContentType="image/png"/>
  <Override PartName="/ppt/media/image5.png" ContentType="image/png"/>
  <Override PartName="/ppt/media/image13.png" ContentType="image/png"/>
  <Override PartName="/ppt/media/image11.png" ContentType="image/png"/>
  <Override PartName="/ppt/media/image1.jpeg" ContentType="image/jpeg"/>
  <Override PartName="/ppt/media/image6.png" ContentType="image/png"/>
  <Override PartName="/ppt/media/image14.png" ContentType="image/png"/>
  <Override PartName="/ppt/media/image4.png" ContentType="image/png"/>
  <Override PartName="/ppt/media/image3.png" ContentType="image/png"/>
  <Override PartName="/ppt/media/image12.png" ContentType="image/png"/>
  <Override PartName="/ppt/media/image2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5.png" ContentType="image/png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20"/>
    <p:sldId id="272" r:id="rId21"/>
    <p:sldId id="273" r:id="rId22"/>
    <p:sldId id="274" r:id="rId23"/>
    <p:sldId id="275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3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4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5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Rectangle 6"/>
          <p:cNvSpPr/>
          <p:nvPr/>
        </p:nvSpPr>
        <p:spPr>
          <a:xfrm>
            <a:off x="920880" y="1347120"/>
            <a:ext cx="10222560" cy="80280"/>
          </a:xfrm>
          <a:prstGeom prst="rect">
            <a:avLst/>
          </a:prstGeom>
          <a:blipFill rotWithShape="0">
            <a:blip r:embed="rId4">
              <a:alphaModFix amt="85000"/>
            </a:blip>
            <a:srcRect/>
            <a:tile tx="0" ty="1005069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920880" y="4299840"/>
            <a:ext cx="10222560" cy="80280"/>
          </a:xfrm>
          <a:prstGeom prst="rect">
            <a:avLst/>
          </a:prstGeom>
          <a:blipFill rotWithShape="0">
            <a:blip r:embed="rId5">
              <a:alphaModFix amt="85000"/>
            </a:blip>
            <a:srcRect/>
            <a:tile tx="0" ty="1040335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920880" y="1484640"/>
            <a:ext cx="10222560" cy="2742840"/>
          </a:xfrm>
          <a:prstGeom prst="rect">
            <a:avLst/>
          </a:prstGeom>
          <a:blipFill rotWithShape="0">
            <a:blip r:embed="rId6">
              <a:alphaModFix amt="85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9649080" y="4069080"/>
            <a:ext cx="1080720" cy="1080720"/>
            <a:chOff x="9649080" y="4069080"/>
            <a:chExt cx="1080720" cy="1080720"/>
          </a:xfrm>
        </p:grpSpPr>
        <p:sp>
          <p:nvSpPr>
            <p:cNvPr id="10" name="Oval 10"/>
            <p:cNvSpPr/>
            <p:nvPr/>
          </p:nvSpPr>
          <p:spPr>
            <a:xfrm>
              <a:off x="9649080" y="4069080"/>
              <a:ext cx="1080720" cy="1080720"/>
            </a:xfrm>
            <a:prstGeom prst="ellipse">
              <a:avLst/>
            </a:prstGeom>
            <a:blipFill rotWithShape="0">
              <a:blip r:embed="rId7"/>
              <a:srcRect/>
              <a:tile tx="0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11" name="Oval 11"/>
            <p:cNvSpPr/>
            <p:nvPr/>
          </p:nvSpPr>
          <p:spPr>
            <a:xfrm>
              <a:off x="9757440" y="4177080"/>
              <a:ext cx="864360" cy="864360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51560" y="1432080"/>
            <a:ext cx="9966600" cy="303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7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</a:t>
            </a:r>
            <a:r>
              <a:rPr b="0" lang="en-US" sz="7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title style</a:t>
            </a:r>
            <a:endParaRPr b="0" lang="en-US" sz="7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dt" idx="1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2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3"/>
          </p:nvPr>
        </p:nvSpPr>
        <p:spPr>
          <a:xfrm>
            <a:off x="9592560" y="4289400"/>
            <a:ext cx="11934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8BEE939-CA19-4B02-B32C-1DF785420382}" type="slidenum"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" name="Picture 12" descr=""/>
          <p:cNvPicPr/>
          <p:nvPr/>
        </p:nvPicPr>
        <p:blipFill>
          <a:blip r:embed="rId8"/>
          <a:stretch/>
        </p:blipFill>
        <p:spPr>
          <a:xfrm>
            <a:off x="2899800" y="5039640"/>
            <a:ext cx="6168960" cy="131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46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47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48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6"/>
          <p:cNvSpPr/>
          <p:nvPr/>
        </p:nvSpPr>
        <p:spPr>
          <a:xfrm>
            <a:off x="0" y="4917960"/>
            <a:ext cx="12191760" cy="1939680"/>
          </a:xfrm>
          <a:prstGeom prst="rect">
            <a:avLst/>
          </a:prstGeom>
          <a:blipFill rotWithShape="0">
            <a:blip r:embed="rId4">
              <a:alphaModFix amt="85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167200" y="1225440"/>
            <a:ext cx="9280800" cy="352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80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165760" y="5020200"/>
            <a:ext cx="905220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3"/>
          </p:nvPr>
        </p:nvSpPr>
        <p:spPr>
          <a:xfrm>
            <a:off x="8593560" y="6272640"/>
            <a:ext cx="2643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14"/>
          </p:nvPr>
        </p:nvSpPr>
        <p:spPr>
          <a:xfrm>
            <a:off x="21826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4" name="Group 7"/>
          <p:cNvGrpSpPr/>
          <p:nvPr/>
        </p:nvGrpSpPr>
        <p:grpSpPr>
          <a:xfrm>
            <a:off x="897480" y="2325960"/>
            <a:ext cx="1080720" cy="1080720"/>
            <a:chOff x="897480" y="2325960"/>
            <a:chExt cx="1080720" cy="1080720"/>
          </a:xfrm>
        </p:grpSpPr>
        <p:sp>
          <p:nvSpPr>
            <p:cNvPr id="55" name="Oval 8"/>
            <p:cNvSpPr/>
            <p:nvPr/>
          </p:nvSpPr>
          <p:spPr>
            <a:xfrm>
              <a:off x="897480" y="2325960"/>
              <a:ext cx="1080720" cy="1080720"/>
            </a:xfrm>
            <a:prstGeom prst="ellipse">
              <a:avLst/>
            </a:prstGeom>
            <a:blipFill rotWithShape="0">
              <a:blip r:embed="rId5"/>
              <a:srcRect/>
              <a:tile tx="0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56" name="Oval 9"/>
            <p:cNvSpPr/>
            <p:nvPr/>
          </p:nvSpPr>
          <p:spPr>
            <a:xfrm>
              <a:off x="1005480" y="2433960"/>
              <a:ext cx="864360" cy="864360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57" name="PlaceHolder 5"/>
          <p:cNvSpPr>
            <a:spLocks noGrp="1"/>
          </p:cNvSpPr>
          <p:nvPr>
            <p:ph type="sldNum" idx="15"/>
          </p:nvPr>
        </p:nvSpPr>
        <p:spPr>
          <a:xfrm>
            <a:off x="843840" y="250596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43C391C-63C3-4AED-B9A1-173D2022FAED}" type="slidenum"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9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20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21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4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5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6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A839BE1-0CEB-4AEE-B06D-2A2B84FF2B25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28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29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30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724960" y="533520"/>
            <a:ext cx="2552400" cy="56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066680" y="533520"/>
            <a:ext cx="7505280" cy="56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7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8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9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8A2B27F-AE19-4A54-B5F1-37E27B21F20C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37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38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39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0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1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2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2A69260-EB91-467D-A48A-6A3C3FF52D51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59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60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61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069920" y="2194560"/>
            <a:ext cx="475452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364080" y="2194560"/>
            <a:ext cx="475452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16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17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18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B8F8895-6871-44FC-9960-ECF17FA6AFF4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69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70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71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body"/>
          </p:nvPr>
        </p:nvSpPr>
        <p:spPr>
          <a:xfrm>
            <a:off x="1066680" y="204840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069920" y="2743200"/>
            <a:ext cx="475452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364080" y="204840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364080" y="2743200"/>
            <a:ext cx="475452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19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ftr" idx="20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sldNum" idx="21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CB6ACD2-00C7-44BE-B749-EE3C91C7E043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8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8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8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83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dt" idx="22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23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24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11D82E6-9656-4CB4-8A0C-43405D5235E0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89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90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91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dt" idx="25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26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27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A9853AB8-F919-4A5A-AB27-1E714AC9C2BD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96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97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98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Rectangle 7"/>
          <p:cNvSpPr/>
          <p:nvPr/>
        </p:nvSpPr>
        <p:spPr>
          <a:xfrm>
            <a:off x="8303760" y="0"/>
            <a:ext cx="3888000" cy="6857640"/>
          </a:xfrm>
          <a:prstGeom prst="rect">
            <a:avLst/>
          </a:prstGeom>
          <a:blipFill rotWithShape="0">
            <a:blip r:embed="rId4">
              <a:alphaModFix amt="60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04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838080" y="685800"/>
            <a:ext cx="6711480" cy="501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8549640" y="2423160"/>
            <a:ext cx="320004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28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ftr" idx="29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&lt;footer&gt;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5" name="Group 8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06" name="Oval 9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5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107" name="Oval 10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8" name="PlaceHolder 6"/>
          <p:cNvSpPr>
            <a:spLocks noGrp="1"/>
          </p:cNvSpPr>
          <p:nvPr>
            <p:ph type="sldNum" idx="30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D924674-53AC-4919-B462-005BD0356FF5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10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111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12" name="Picture 9" descr=""/>
          <p:cNvPicPr/>
          <p:nvPr/>
        </p:nvPicPr>
        <p:blipFill>
          <a:blip r:embed="rId3"/>
          <a:stretch/>
        </p:blipFill>
        <p:spPr>
          <a:xfrm>
            <a:off x="9054000" y="15120"/>
            <a:ext cx="3137760" cy="6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Rectangle 10"/>
          <p:cNvSpPr/>
          <p:nvPr/>
        </p:nvSpPr>
        <p:spPr>
          <a:xfrm>
            <a:off x="8303760" y="0"/>
            <a:ext cx="3888000" cy="6857640"/>
          </a:xfrm>
          <a:prstGeom prst="rect">
            <a:avLst/>
          </a:prstGeom>
          <a:blipFill rotWithShape="0">
            <a:blip r:embed="rId4">
              <a:alphaModFix amt="60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04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8303400" cy="685764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8549640" y="2423160"/>
            <a:ext cx="320004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31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&lt;date/time&gt;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8" name="Group 7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19" name="Oval 8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5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Rockwell Extra Bold"/>
              </a:endParaRPr>
            </a:p>
          </p:txBody>
        </p:sp>
        <p:sp>
          <p:nvSpPr>
            <p:cNvPr id="120" name="Oval 9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1" name="PlaceHolder 5"/>
          <p:cNvSpPr>
            <a:spLocks noGrp="1"/>
          </p:cNvSpPr>
          <p:nvPr>
            <p:ph type="sldNum" idx="32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FFE233E-553B-4245-8307-9669EF28C723}" type="slidenum"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hadoop.apache.org/docs/current/hadoop-project-dist/hadoop-common/FileSystemShell.html" TargetMode="External"/><Relationship Id="rId2" Type="http://schemas.openxmlformats.org/officeDocument/2006/relationships/hyperlink" Target="https://hadoop.apache.org/docs/stable/hadoop-project-dist/hadoop-common/SingleCluster.html" TargetMode="External"/><Relationship Id="rId3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051560" y="1432080"/>
            <a:ext cx="9966600" cy="303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VN" sz="7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CS411 – Big Data &amp; Cloud Computing</a:t>
            </a:r>
            <a:endParaRPr b="0" lang="en-US" sz="7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1069920" y="4389120"/>
            <a:ext cx="7890840" cy="106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VN" sz="22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Cao Tien Dung, PhD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Distributed File Systems (DFS)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11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182880" indent="-182880" defTabSz="914400">
              <a:lnSpc>
                <a:spcPct val="17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 distributed file system stores and provides access to files across multiple networked nodes.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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Scalable storage and access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26" name="Picture 5" descr=""/>
          <p:cNvPicPr/>
          <p:nvPr/>
        </p:nvPicPr>
        <p:blipFill>
          <a:blip r:embed="rId1"/>
          <a:stretch/>
        </p:blipFill>
        <p:spPr>
          <a:xfrm>
            <a:off x="2904840" y="2836800"/>
            <a:ext cx="7710840" cy="38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C136DF-D921-4073-8EE9-D1433BD7D84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Replication in DFS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Replication stores copies of data blocks on different DataNodes (and, when possible, different racks). Key benefits: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Fault tolerance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: data remains available when a disk, DataNode, or rack fails.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Read throughput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: clients can read block replicas in parallel and choose nearby replicas.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445DDF-5651-437F-A69E-9A0F1DC4114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Replication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30" name="Picture 5" descr=""/>
          <p:cNvPicPr/>
          <p:nvPr/>
        </p:nvPicPr>
        <p:blipFill>
          <a:blip r:embed="rId1"/>
          <a:stretch/>
        </p:blipFill>
        <p:spPr>
          <a:xfrm>
            <a:off x="1523880" y="1493280"/>
            <a:ext cx="9143640" cy="46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Rectangle 6"/>
          <p:cNvSpPr/>
          <p:nvPr/>
        </p:nvSpPr>
        <p:spPr>
          <a:xfrm>
            <a:off x="8460720" y="1553040"/>
            <a:ext cx="2207160" cy="734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D2A263-2BA4-491B-A45F-0C9A571523B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Fault tolerance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33" name="Picture 5" descr=""/>
          <p:cNvPicPr/>
          <p:nvPr/>
        </p:nvPicPr>
        <p:blipFill>
          <a:blip r:embed="rId1"/>
          <a:stretch/>
        </p:blipFill>
        <p:spPr>
          <a:xfrm>
            <a:off x="1523880" y="1517400"/>
            <a:ext cx="9143640" cy="460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Rectangle 6"/>
          <p:cNvSpPr/>
          <p:nvPr/>
        </p:nvSpPr>
        <p:spPr>
          <a:xfrm>
            <a:off x="8460720" y="1553040"/>
            <a:ext cx="2207160" cy="734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302809-1E2E-46C3-A6D3-A0F16DE9B67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Parallel reads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36" name="Picture 5" descr=""/>
          <p:cNvPicPr/>
          <p:nvPr/>
        </p:nvPicPr>
        <p:blipFill>
          <a:blip r:embed="rId1"/>
          <a:stretch/>
        </p:blipFill>
        <p:spPr>
          <a:xfrm>
            <a:off x="1523880" y="1493280"/>
            <a:ext cx="9143640" cy="466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6"/>
          <p:cNvSpPr/>
          <p:nvPr/>
        </p:nvSpPr>
        <p:spPr>
          <a:xfrm>
            <a:off x="8460720" y="1553040"/>
            <a:ext cx="2207160" cy="7347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9AD50C-7624-4CAD-B652-3BFFFE463D2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Hadoop Distributed File System (HDFS)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39" name="Picture 5" descr=""/>
          <p:cNvPicPr/>
          <p:nvPr/>
        </p:nvPicPr>
        <p:blipFill>
          <a:blip r:embed="rId1"/>
          <a:stretch/>
        </p:blipFill>
        <p:spPr>
          <a:xfrm>
            <a:off x="4251960" y="2462760"/>
            <a:ext cx="7088760" cy="360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6"/>
          <p:cNvSpPr/>
          <p:nvPr/>
        </p:nvSpPr>
        <p:spPr>
          <a:xfrm>
            <a:off x="1088280" y="1460880"/>
            <a:ext cx="8492040" cy="15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HDFS: distributed storage for the Hadoop ecosystem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Scalability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Reliability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Oval 7"/>
          <p:cNvSpPr/>
          <p:nvPr/>
        </p:nvSpPr>
        <p:spPr>
          <a:xfrm>
            <a:off x="6449760" y="4711320"/>
            <a:ext cx="2827080" cy="538920"/>
          </a:xfrm>
          <a:prstGeom prst="ellipse">
            <a:avLst/>
          </a:prstGeom>
          <a:noFill/>
          <a:ln w="38100">
            <a:solidFill>
              <a:srgbClr val="d34817"/>
            </a:solidFill>
            <a:round/>
          </a:ln>
          <a:effectLst>
            <a:softEdge rad="12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AB003D-F0EF-43FB-9173-B4B27B26D3B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HDFS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71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182880" indent="-182880" defTabSz="914400">
              <a:lnSpc>
                <a:spcPct val="16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Designed for large files and high-throughput, streaming access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Scale-out storage on commodity servers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Files are split into configurable-size blocks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Replication supports fault tolerance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6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Files are divided into blocks of a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configurable size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6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Manager/worker architecture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 basic cluster has an active NameNode and multiple DataNodes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NameNode manages the namespace and block metadata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DataNodes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store and serve blocks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Typically one DataNode process per worker machine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6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Default replication is commonly 3; it is configurable per file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D62A7E-61F5-458F-A2A8-C1A073F3B3A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HDFS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45" name="Picture 5" descr=""/>
          <p:cNvPicPr/>
          <p:nvPr/>
        </p:nvPicPr>
        <p:blipFill>
          <a:blip r:embed="rId1"/>
          <a:stretch/>
        </p:blipFill>
        <p:spPr>
          <a:xfrm>
            <a:off x="1523880" y="1402200"/>
            <a:ext cx="9143640" cy="471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90FD82-BC35-4A59-BC60-227CA1F112CD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HDFS – Read Mechanism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pSp>
        <p:nvGrpSpPr>
          <p:cNvPr id="147" name="Group 8"/>
          <p:cNvGrpSpPr/>
          <p:nvPr/>
        </p:nvGrpSpPr>
        <p:grpSpPr>
          <a:xfrm>
            <a:off x="1868400" y="1372680"/>
            <a:ext cx="8951760" cy="5034960"/>
            <a:chOff x="1868400" y="1372680"/>
            <a:chExt cx="8951760" cy="5034960"/>
          </a:xfrm>
        </p:grpSpPr>
        <p:pic>
          <p:nvPicPr>
            <p:cNvPr id="148" name="Picture 5" descr=""/>
            <p:cNvPicPr/>
            <p:nvPr/>
          </p:nvPicPr>
          <p:blipFill>
            <a:blip r:embed="rId1"/>
            <a:stretch/>
          </p:blipFill>
          <p:spPr>
            <a:xfrm>
              <a:off x="1868400" y="1372680"/>
              <a:ext cx="8949600" cy="503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9" name="Rectangle 6"/>
            <p:cNvSpPr/>
            <p:nvPr/>
          </p:nvSpPr>
          <p:spPr>
            <a:xfrm>
              <a:off x="1879920" y="6162120"/>
              <a:ext cx="1641960" cy="245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50" name="Rectangle 7"/>
            <p:cNvSpPr/>
            <p:nvPr/>
          </p:nvSpPr>
          <p:spPr>
            <a:xfrm>
              <a:off x="10606680" y="6003360"/>
              <a:ext cx="213480" cy="245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EC642A-97A4-4686-A522-A80FE6FD0EB9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HDFS – Write Mechanism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pSp>
        <p:nvGrpSpPr>
          <p:cNvPr id="152" name="Group 8"/>
          <p:cNvGrpSpPr/>
          <p:nvPr/>
        </p:nvGrpSpPr>
        <p:grpSpPr>
          <a:xfrm>
            <a:off x="1918800" y="1363320"/>
            <a:ext cx="9001080" cy="5044320"/>
            <a:chOff x="1918800" y="1363320"/>
            <a:chExt cx="9001080" cy="5044320"/>
          </a:xfrm>
        </p:grpSpPr>
        <p:pic>
          <p:nvPicPr>
            <p:cNvPr id="153" name="Picture 5" descr=""/>
            <p:cNvPicPr/>
            <p:nvPr/>
          </p:nvPicPr>
          <p:blipFill>
            <a:blip r:embed="rId1"/>
            <a:stretch/>
          </p:blipFill>
          <p:spPr>
            <a:xfrm>
              <a:off x="1923120" y="1363320"/>
              <a:ext cx="8996760" cy="5044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4" name="Rectangle 6"/>
            <p:cNvSpPr/>
            <p:nvPr/>
          </p:nvSpPr>
          <p:spPr>
            <a:xfrm>
              <a:off x="1918800" y="6148800"/>
              <a:ext cx="1683720" cy="255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55" name="Rectangle 7"/>
            <p:cNvSpPr/>
            <p:nvPr/>
          </p:nvSpPr>
          <p:spPr>
            <a:xfrm>
              <a:off x="10762920" y="6016320"/>
              <a:ext cx="156960" cy="255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6F6D38-3378-45D2-ACE6-208136425D91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YARN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57" name="Picture 5" descr=""/>
          <p:cNvPicPr/>
          <p:nvPr/>
        </p:nvPicPr>
        <p:blipFill>
          <a:blip r:embed="rId1"/>
          <a:stretch/>
        </p:blipFill>
        <p:spPr>
          <a:xfrm>
            <a:off x="2170440" y="1419120"/>
            <a:ext cx="8649720" cy="484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886A91-A018-4A19-93FB-D163B4EFBBE8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YARN elements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59" name="Picture 5" descr=""/>
          <p:cNvPicPr/>
          <p:nvPr/>
        </p:nvPicPr>
        <p:blipFill>
          <a:blip r:embed="rId1"/>
          <a:stretch/>
        </p:blipFill>
        <p:spPr>
          <a:xfrm>
            <a:off x="3756960" y="2342880"/>
            <a:ext cx="7628040" cy="380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Box 6"/>
          <p:cNvSpPr/>
          <p:nvPr/>
        </p:nvSpPr>
        <p:spPr>
          <a:xfrm>
            <a:off x="1088280" y="1366560"/>
            <a:ext cx="7628040" cy="23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ResourceManager (cluster-wide resource arbitration)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ApplicationMaster (one per application attempt)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NodeManagers (one per worker node)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Container (allocated resources for a task/process)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2A612B-A086-4446-B4BA-167AD0D9D8C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Steps to Running an application in YARN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1. Client submits the application to the ResourceManager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2. ResourceManager allocates a container for the ApplicationMaster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3. ApplicationMaster registers and requests task containers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4. NodeManagers launch the allocated task containers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5. Tasks run; ApplicationMaster monitors progress and reports status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CA7ED-E62F-4340-B9B5-2820638A0824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MapReduce: Distributed Batch Processing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1. Input in HDFS is divided into logical input splits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2. Map transforms records into intermediate key-value pairs</a:t>
            </a: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Rockwell"/>
              </a:rPr>
              <a:t>3. Shuffle partitions, transfers, and sorts records by key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4. Reduce aggregates values for each key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Rockwell"/>
              </a:rPr>
              <a:t>5. Output is committed to a new HDFS directory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Cao Tien Dung, PhD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15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30280" indent="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/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67CEDB-BCA5-4DED-A7B1-72FA663C406C}" type="slidenum">
              <a:t/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WordCount: Map → Shuffle/Sort → Reduce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Input: hadoop hdfs hadoop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Map: (hadoop,1) (hdfs,1) (hadoop,1)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Shuffle/Sort: hadoop → [1,1]; hdfs → [1]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Reduce: hadoop → 2; hdfs →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Output: part-r-00000 in HDFS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CA7ED-E62F-4340-B9B5-2820638A0824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HDFS Design Trade-offs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Optimized for large files and high-throughput sequential access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Write-once, read-many is the common access pattern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Data locality reduces network transfer for distributed processing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Not ideal for many tiny files, low-latency updates, or random writes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NameNode metadata capacity must be planned and monitored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CA7ED-E62F-4340-B9B5-2820638A0824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Hadoop 3.x and Hadoop 3.5.0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Hadoop 3.5.0 server processes require Java 17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Erasure coding can reduce storage overhead for suitable HDFS data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Multiple standby NameNodes improve high-availability options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Service ports moved away from the Linux ephemeral port range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Hadoop 3.5 adds HDFS optimizations and a GCS filesystem connector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CA7ED-E62F-4340-B9B5-2820638A0824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Replication vs. Erasure Coding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Replication: complete block copies; simple recovery and fast reads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Erasure coding: data + parity cells; lower storage overhead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EC recovery uses reconstruction and adds CPU/network work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Choose by access pattern, recovery target, and storage cost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Rockwell Condensed"/>
              <a:buAutoNum type="arabi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Single-node Colab cannot demonstrate either mechanism's real resilience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Cao Tien Dung, PhD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CA7ED-E62F-4340-B9B5-2820638A0824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7596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Chapter 2 Practice and References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069920" y="1654920"/>
            <a:ext cx="10759680" cy="451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Run: Hadoop_Practical_Online_Colab.ipynb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Observe: HDFS blocks, replication, YARN, and MapReduce</a:t>
            </a: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Rockwell"/>
              </a:rPr>
              <a:t>Extend: compare Hadoop Streaming with PySpark DataFrames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Apache Hadoop 3.5.0: https://hadoop.apache.org/docs/r3.5.0/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Rockwell"/>
              </a:rPr>
              <a:t>FileSystem Shell and Single Node Setup are linked in the lab README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5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Cao Tien Dung, PhD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20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530280" indent="0" defTabSz="914400">
              <a:lnSpc>
                <a:spcPct val="15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/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67CEDB-BCA5-4DED-A7B1-72FA663C406C}" type="slidenum">
              <a:t/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blipFill rotWithShape="1">
          <a:blip r:embed="rId1"/>
          <a:srcRect l="0" t="0" r="0" b="0"/>
          <a:tile tx="0" ty="0" sx="60000" sy="59000" flip="none" algn="tl"/>
        </a:blipFill>
        <a:blipFill rotWithShape="1">
          <a:blip r:embed="rId2"/>
          <a:srcRect l="0" t="0" r="0" b="0"/>
          <a:tile tx="0" ty="0" sx="60000" sy="59000" flip="none" algn="tl"/>
        </a:blip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shade val="97000"/>
          </a:schemeClr>
        </a:solidFill>
        <a:blipFill rotWithShape="1">
          <a:blip r:embed="rId3"/>
          <a:srcRect l="0" t="0" r="0" b="0"/>
          <a:tile tx="0" ty="0" sx="100000" sy="10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blipFill rotWithShape="1">
          <a:blip r:embed="rId1"/>
          <a:srcRect l="0" t="0" r="0" b="0"/>
          <a:tile tx="0" ty="0" sx="60000" sy="59000" flip="none" algn="tl"/>
        </a:blipFill>
        <a:blipFill rotWithShape="1">
          <a:blip r:embed="rId2"/>
          <a:srcRect l="0" t="0" r="0" b="0"/>
          <a:tile tx="0" ty="0" sx="60000" sy="59000" flip="none" algn="tl"/>
        </a:blip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shade val="97000"/>
          </a:schemeClr>
        </a:solidFill>
        <a:blipFill rotWithShape="1">
          <a:blip r:embed="rId3"/>
          <a:srcRect l="0" t="0" r="0" b="0"/>
          <a:tile tx="0" ty="0" sx="100000" sy="10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{20349515-ACAF-A145-9EA5-171D85682D34}tf10001070</Template>
  <TotalTime>494</TotalTime>
  <Application>LibreOffice/25.8.1.1$MacOSX_AARCH64 LibreOffice_project/54047653041915e595ad4e45cccea684809c77b5</Application>
  <AppVersion>15.0000</AppVersion>
  <Words>433</Words>
  <Paragraphs>77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2022-06-07T03:57:09Z</dcterms:created>
  <dc:creator>Microsoft Office User</dc:creator>
  <dc:description/>
  <dc:language>en-US</dc:language>
  <cp:lastModifiedBy/>
  <dcterms:modified xsi:type="dcterms:W3CDTF">2026-08-12T14:27:20Z</dcterms:modified>
  <cp:revision>163</cp:revision>
  <dc:subject/>
  <dc:title>Intro. To AI &amp; Big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</Properties>
</file>